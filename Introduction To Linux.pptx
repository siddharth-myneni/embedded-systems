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8" r:id="rId5"/>
    <p:sldId id="310" r:id="rId6"/>
    <p:sldId id="311" r:id="rId7"/>
    <p:sldId id="312" r:id="rId8"/>
    <p:sldId id="313" r:id="rId9"/>
    <p:sldId id="314" r:id="rId10"/>
    <p:sldId id="315" r:id="rId11"/>
    <p:sldId id="316" r:id="rId12"/>
    <p:sldId id="317" r:id="rId13"/>
    <p:sldId id="318" r:id="rId14"/>
    <p:sldId id="319" r:id="rId15"/>
    <p:sldId id="321" r:id="rId16"/>
    <p:sldId id="32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47" d="100"/>
          <a:sy n="47" d="100"/>
        </p:scale>
        <p:origin x="53" y="7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presProps" Target="presProps.xml" /><Relationship Id="rId3" Type="http://schemas.openxmlformats.org/officeDocument/2006/relationships/customXml" Target="../customXml/item3.xml" /><Relationship Id="rId21" Type="http://schemas.openxmlformats.org/officeDocument/2006/relationships/tableStyles" Target="tableStyles.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theme" Target="theme/theme1.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slide" Target="slides/slide11.xml" /><Relationship Id="rId10" Type="http://schemas.openxmlformats.org/officeDocument/2006/relationships/slide" Target="slides/slide6.xml" /><Relationship Id="rId19" Type="http://schemas.openxmlformats.org/officeDocument/2006/relationships/viewProps" Target="viewProps.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4/15/2026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4/15/2026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4/15/2026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4/15/2026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4/15/2026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4/15/2026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4/15/2026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4/15/2026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4/15/2026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5" Type="http://schemas.openxmlformats.org/officeDocument/2006/relationships/slideLayout" Target="../slideLayouts/slideLayout5.xml" /><Relationship Id="rId10"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4/15/2026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slideLayout" Target="../slideLayouts/slideLayout1.xml" /><Relationship Id="rId1" Type="http://schemas.openxmlformats.org/officeDocument/2006/relationships/themeOverride" Target="../theme/themeOverride1.xml" /></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 /><Relationship Id="rId1" Type="http://schemas.openxmlformats.org/officeDocument/2006/relationships/themeOverride" Target="../theme/themeOverride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4010AF38-26DF-48B3-952C-4A9091D6863C}"/>
              </a:ext>
            </a:extLst>
          </p:cNvPr>
          <p:cNvSpPr>
            <a:spLocks noGrp="1"/>
          </p:cNvSpPr>
          <p:nvPr>
            <p:ph type="ctrTitle"/>
          </p:nvPr>
        </p:nvSpPr>
        <p:spPr>
          <a:xfrm>
            <a:off x="648929" y="639097"/>
            <a:ext cx="6754761" cy="3686015"/>
          </a:xfrm>
        </p:spPr>
        <p:txBody>
          <a:bodyPr>
            <a:normAutofit/>
          </a:bodyPr>
          <a:lstStyle/>
          <a:p>
            <a:r>
              <a:rPr lang="en-US" dirty="0"/>
              <a:t>Introduction To Linux</a:t>
            </a:r>
            <a:endParaRPr lang="en-US" sz="8000" dirty="0"/>
          </a:p>
        </p:txBody>
      </p:sp>
      <p:sp>
        <p:nvSpPr>
          <p:cNvPr id="3" name="Subtitle 2">
            <a:extLst>
              <a:ext uri="{FF2B5EF4-FFF2-40B4-BE49-F238E27FC236}">
                <a16:creationId xmlns:a16="http://schemas.microsoft.com/office/drawing/2014/main" id="{37FC2D8F-56D2-4ADF-B439-0E09E7C37894}"/>
              </a:ext>
            </a:extLst>
          </p:cNvPr>
          <p:cNvSpPr>
            <a:spLocks noGrp="1"/>
          </p:cNvSpPr>
          <p:nvPr>
            <p:ph type="subTitle" idx="1"/>
          </p:nvPr>
        </p:nvSpPr>
        <p:spPr>
          <a:xfrm>
            <a:off x="632899" y="4672739"/>
            <a:ext cx="6269347" cy="1021498"/>
          </a:xfrm>
        </p:spPr>
        <p:txBody>
          <a:bodyPr>
            <a:normAutofit/>
          </a:bodyPr>
          <a:lstStyle/>
          <a:p>
            <a:endParaRPr lang="en-US" sz="2400" dirty="0">
              <a:solidFill>
                <a:schemeClr val="tx1">
                  <a:lumMod val="85000"/>
                  <a:lumOff val="15000"/>
                </a:schemeClr>
              </a:solidFill>
            </a:endParaRPr>
          </a:p>
        </p:txBody>
      </p:sp>
      <p:cxnSp>
        <p:nvCxnSpPr>
          <p:cNvPr id="29" name="Straight Connector 28">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308AC96E-AA33-4309-B51D-072F59E6EC0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556686" y="1"/>
            <a:ext cx="4635315" cy="6857999"/>
          </a:xfrm>
          <a:prstGeom prst="rect">
            <a:avLst/>
          </a:prstGeom>
        </p:spPr>
      </p:pic>
    </p:spTree>
    <p:extLst>
      <p:ext uri="{BB962C8B-B14F-4D97-AF65-F5344CB8AC3E}">
        <p14:creationId xmlns:p14="http://schemas.microsoft.com/office/powerpoint/2010/main" val="3912747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CB32-901A-4DA0-AA8A-9A7B5A88BFCD}"/>
              </a:ext>
            </a:extLst>
          </p:cNvPr>
          <p:cNvSpPr>
            <a:spLocks noGrp="1"/>
          </p:cNvSpPr>
          <p:nvPr>
            <p:ph type="title"/>
          </p:nvPr>
        </p:nvSpPr>
        <p:spPr>
          <a:xfrm>
            <a:off x="1097280" y="758952"/>
            <a:ext cx="10058400" cy="1256661"/>
          </a:xfrm>
        </p:spPr>
        <p:txBody>
          <a:bodyPr>
            <a:normAutofit/>
          </a:bodyPr>
          <a:lstStyle/>
          <a:p>
            <a:r>
              <a:rPr lang="en-US" dirty="0"/>
              <a:t>Linux Installation</a:t>
            </a:r>
          </a:p>
        </p:txBody>
      </p:sp>
      <p:sp>
        <p:nvSpPr>
          <p:cNvPr id="3" name="Text Placeholder 2">
            <a:extLst>
              <a:ext uri="{FF2B5EF4-FFF2-40B4-BE49-F238E27FC236}">
                <a16:creationId xmlns:a16="http://schemas.microsoft.com/office/drawing/2014/main" id="{0A9AA064-5F9E-90CB-0BF9-7B101BFD2F1E}"/>
              </a:ext>
            </a:extLst>
          </p:cNvPr>
          <p:cNvSpPr>
            <a:spLocks noGrp="1"/>
          </p:cNvSpPr>
          <p:nvPr>
            <p:ph type="body" idx="1"/>
          </p:nvPr>
        </p:nvSpPr>
        <p:spPr>
          <a:xfrm>
            <a:off x="1066800" y="2231923"/>
            <a:ext cx="10058400" cy="2610465"/>
          </a:xfrm>
        </p:spPr>
        <p:txBody>
          <a:bodyPr/>
          <a:lstStyle/>
          <a:p>
            <a:pPr marL="342900" indent="-342900">
              <a:buFont typeface="Wingdings" panose="05000000000000000000" pitchFamily="2" charset="2"/>
              <a:buChar char="§"/>
            </a:pPr>
            <a:r>
              <a:rPr lang="en-US" cap="none" dirty="0"/>
              <a:t>Open command Prompt as an Administrator.</a:t>
            </a:r>
          </a:p>
          <a:p>
            <a:pPr marL="342900" indent="-342900">
              <a:buFont typeface="Wingdings" panose="05000000000000000000" pitchFamily="2" charset="2"/>
              <a:buChar char="§"/>
            </a:pPr>
            <a:r>
              <a:rPr lang="en-US" cap="none" dirty="0"/>
              <a:t>Type in the Command “</a:t>
            </a:r>
            <a:r>
              <a:rPr lang="en-US" cap="none" dirty="0" err="1"/>
              <a:t>wsl</a:t>
            </a:r>
            <a:r>
              <a:rPr lang="en-US" cap="none" dirty="0"/>
              <a:t> --install”.</a:t>
            </a:r>
          </a:p>
          <a:p>
            <a:pPr marL="342900" indent="-342900">
              <a:buFont typeface="Wingdings" panose="05000000000000000000" pitchFamily="2" charset="2"/>
              <a:buChar char="§"/>
            </a:pPr>
            <a:r>
              <a:rPr lang="en-US" cap="none" dirty="0"/>
              <a:t>This installs subsystem for Linux with an Ubuntu Distribution</a:t>
            </a:r>
            <a:r>
              <a:rPr lang="en-IN" cap="none" dirty="0"/>
              <a:t>.</a:t>
            </a:r>
          </a:p>
          <a:p>
            <a:pPr marL="342900" indent="-342900">
              <a:buFont typeface="Wingdings" panose="05000000000000000000" pitchFamily="2" charset="2"/>
              <a:buChar char="§"/>
            </a:pPr>
            <a:r>
              <a:rPr lang="en-IN" cap="none" dirty="0"/>
              <a:t>Restart your system to find it in your system.</a:t>
            </a:r>
          </a:p>
        </p:txBody>
      </p:sp>
    </p:spTree>
    <p:extLst>
      <p:ext uri="{BB962C8B-B14F-4D97-AF65-F5344CB8AC3E}">
        <p14:creationId xmlns:p14="http://schemas.microsoft.com/office/powerpoint/2010/main" val="2482546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370997-8E3D-6B22-ABDE-6AEC3A93AC1F}"/>
              </a:ext>
            </a:extLst>
          </p:cNvPr>
          <p:cNvSpPr>
            <a:spLocks noGrp="1"/>
          </p:cNvSpPr>
          <p:nvPr>
            <p:ph type="title"/>
          </p:nvPr>
        </p:nvSpPr>
        <p:spPr/>
        <p:txBody>
          <a:bodyPr/>
          <a:lstStyle/>
          <a:p>
            <a:r>
              <a:rPr lang="en-IN" dirty="0"/>
              <a:t>User-Level Linux Commands</a:t>
            </a:r>
          </a:p>
        </p:txBody>
      </p:sp>
      <p:sp>
        <p:nvSpPr>
          <p:cNvPr id="5" name="TextBox 4">
            <a:extLst>
              <a:ext uri="{FF2B5EF4-FFF2-40B4-BE49-F238E27FC236}">
                <a16:creationId xmlns:a16="http://schemas.microsoft.com/office/drawing/2014/main" id="{7B0D5E05-8DE7-DBEA-9469-B576DE89BB2A}"/>
              </a:ext>
            </a:extLst>
          </p:cNvPr>
          <p:cNvSpPr txBox="1"/>
          <p:nvPr/>
        </p:nvSpPr>
        <p:spPr>
          <a:xfrm>
            <a:off x="1097280" y="1986117"/>
            <a:ext cx="10510684" cy="3785652"/>
          </a:xfrm>
          <a:prstGeom prst="rect">
            <a:avLst/>
          </a:prstGeom>
          <a:noFill/>
        </p:spPr>
        <p:txBody>
          <a:bodyPr wrap="square" rtlCol="0">
            <a:spAutoFit/>
          </a:bodyPr>
          <a:lstStyle/>
          <a:p>
            <a:r>
              <a:rPr lang="en-US" sz="2400" dirty="0">
                <a:latin typeface="+mj-lt"/>
              </a:rPr>
              <a:t>Linux Commands are classified into 8 types they are:</a:t>
            </a:r>
          </a:p>
          <a:p>
            <a:endParaRPr lang="en-US" sz="2400" dirty="0">
              <a:latin typeface="+mj-lt"/>
            </a:endParaRPr>
          </a:p>
          <a:p>
            <a:pPr marL="285750" indent="-285750">
              <a:buClr>
                <a:schemeClr val="accent1"/>
              </a:buClr>
              <a:buFont typeface="Wingdings" panose="05000000000000000000" pitchFamily="2" charset="2"/>
              <a:buChar char="§"/>
            </a:pPr>
            <a:r>
              <a:rPr lang="en-US" sz="2400" dirty="0">
                <a:latin typeface="+mj-lt"/>
              </a:rPr>
              <a:t>File &amp; </a:t>
            </a:r>
            <a:r>
              <a:rPr lang="en-US" sz="2400" dirty="0"/>
              <a:t>Directory</a:t>
            </a:r>
            <a:r>
              <a:rPr lang="en-US" sz="2400" dirty="0">
                <a:latin typeface="+mj-lt"/>
              </a:rPr>
              <a:t> Commands.</a:t>
            </a:r>
          </a:p>
          <a:p>
            <a:pPr marL="285750" indent="-285750">
              <a:buClr>
                <a:schemeClr val="accent1"/>
              </a:buClr>
              <a:buFont typeface="Wingdings" panose="05000000000000000000" pitchFamily="2" charset="2"/>
              <a:buChar char="§"/>
            </a:pPr>
            <a:r>
              <a:rPr lang="en-US" sz="2400" dirty="0">
                <a:latin typeface="+mj-lt"/>
              </a:rPr>
              <a:t>File Viewing and Editing Commands.</a:t>
            </a:r>
          </a:p>
          <a:p>
            <a:pPr marL="285750" indent="-285750">
              <a:buClr>
                <a:schemeClr val="accent1"/>
              </a:buClr>
              <a:buFont typeface="Wingdings" panose="05000000000000000000" pitchFamily="2" charset="2"/>
              <a:buChar char="§"/>
            </a:pPr>
            <a:r>
              <a:rPr lang="en-US" sz="2400" dirty="0">
                <a:latin typeface="+mj-lt"/>
              </a:rPr>
              <a:t>Search &amp; Filter Commands.</a:t>
            </a:r>
          </a:p>
          <a:p>
            <a:pPr marL="285750" indent="-285750">
              <a:buClr>
                <a:schemeClr val="accent1"/>
              </a:buClr>
              <a:buFont typeface="Wingdings" panose="05000000000000000000" pitchFamily="2" charset="2"/>
              <a:buChar char="§"/>
            </a:pPr>
            <a:r>
              <a:rPr lang="en-US" sz="2400" dirty="0">
                <a:latin typeface="+mj-lt"/>
              </a:rPr>
              <a:t>Permissions &amp; Ownership Commands.</a:t>
            </a:r>
          </a:p>
          <a:p>
            <a:pPr marL="285750" indent="-285750">
              <a:buClr>
                <a:schemeClr val="accent1"/>
              </a:buClr>
              <a:buFont typeface="Wingdings" panose="05000000000000000000" pitchFamily="2" charset="2"/>
              <a:buChar char="§"/>
            </a:pPr>
            <a:r>
              <a:rPr lang="en-US" sz="2400" dirty="0">
                <a:latin typeface="+mj-lt"/>
              </a:rPr>
              <a:t>System &amp; Process Commands.</a:t>
            </a:r>
          </a:p>
          <a:p>
            <a:pPr marL="285750" indent="-285750">
              <a:buClr>
                <a:schemeClr val="accent1"/>
              </a:buClr>
              <a:buFont typeface="Wingdings" panose="05000000000000000000" pitchFamily="2" charset="2"/>
              <a:buChar char="§"/>
            </a:pPr>
            <a:r>
              <a:rPr lang="en-US" sz="2400" dirty="0">
                <a:latin typeface="+mj-lt"/>
              </a:rPr>
              <a:t>Networking Commands.</a:t>
            </a:r>
          </a:p>
          <a:p>
            <a:pPr marL="285750" indent="-285750">
              <a:buClr>
                <a:schemeClr val="accent1"/>
              </a:buClr>
              <a:buFont typeface="Wingdings" panose="05000000000000000000" pitchFamily="2" charset="2"/>
              <a:buChar char="§"/>
            </a:pPr>
            <a:r>
              <a:rPr lang="en-US" sz="2400" dirty="0">
                <a:latin typeface="+mj-lt"/>
              </a:rPr>
              <a:t>Package Management Commands.</a:t>
            </a:r>
          </a:p>
          <a:p>
            <a:pPr marL="285750" indent="-285750">
              <a:buClr>
                <a:schemeClr val="accent1"/>
              </a:buClr>
              <a:buFont typeface="Wingdings" panose="05000000000000000000" pitchFamily="2" charset="2"/>
              <a:buChar char="§"/>
            </a:pPr>
            <a:r>
              <a:rPr lang="en-US" sz="2400" dirty="0">
                <a:latin typeface="+mj-lt"/>
              </a:rPr>
              <a:t>Advanced/Automation Commands.</a:t>
            </a:r>
          </a:p>
        </p:txBody>
      </p:sp>
    </p:spTree>
    <p:extLst>
      <p:ext uri="{BB962C8B-B14F-4D97-AF65-F5344CB8AC3E}">
        <p14:creationId xmlns:p14="http://schemas.microsoft.com/office/powerpoint/2010/main" val="1910142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29B51-EF33-645A-3BF7-3EAD4D1846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DC2897-21AC-302E-3638-C92C481783C8}"/>
              </a:ext>
            </a:extLst>
          </p:cNvPr>
          <p:cNvSpPr>
            <a:spLocks noGrp="1"/>
          </p:cNvSpPr>
          <p:nvPr>
            <p:ph type="title"/>
          </p:nvPr>
        </p:nvSpPr>
        <p:spPr/>
        <p:txBody>
          <a:bodyPr/>
          <a:lstStyle/>
          <a:p>
            <a:pPr>
              <a:buClr>
                <a:schemeClr val="accent1"/>
              </a:buClr>
            </a:pPr>
            <a:r>
              <a:rPr lang="en-US" sz="4800" dirty="0"/>
              <a:t>File &amp; Directory Commands</a:t>
            </a:r>
          </a:p>
        </p:txBody>
      </p:sp>
      <p:sp>
        <p:nvSpPr>
          <p:cNvPr id="5" name="TextBox 4">
            <a:extLst>
              <a:ext uri="{FF2B5EF4-FFF2-40B4-BE49-F238E27FC236}">
                <a16:creationId xmlns:a16="http://schemas.microsoft.com/office/drawing/2014/main" id="{AA2982A3-9E09-6A0B-17C0-F9DDBB83CD1E}"/>
              </a:ext>
            </a:extLst>
          </p:cNvPr>
          <p:cNvSpPr txBox="1"/>
          <p:nvPr/>
        </p:nvSpPr>
        <p:spPr>
          <a:xfrm>
            <a:off x="1097280" y="1966453"/>
            <a:ext cx="10510684" cy="2677656"/>
          </a:xfrm>
          <a:prstGeom prst="rect">
            <a:avLst/>
          </a:prstGeom>
          <a:noFill/>
        </p:spPr>
        <p:txBody>
          <a:bodyPr wrap="square" rtlCol="0">
            <a:spAutoFit/>
          </a:bodyPr>
          <a:lstStyle/>
          <a:p>
            <a:pPr marL="457200" indent="-457200">
              <a:buFont typeface="Wingdings" panose="05000000000000000000" pitchFamily="2" charset="2"/>
              <a:buChar char="§"/>
            </a:pPr>
            <a:r>
              <a:rPr lang="en-US" sz="2400" b="1" dirty="0" err="1">
                <a:latin typeface="+mj-lt"/>
              </a:rPr>
              <a:t>pwd</a:t>
            </a:r>
            <a:r>
              <a:rPr lang="en-US" sz="2400" b="1" dirty="0">
                <a:latin typeface="+mj-lt"/>
              </a:rPr>
              <a:t>, cd, ls </a:t>
            </a:r>
            <a:r>
              <a:rPr lang="en-US" sz="2400" dirty="0">
                <a:latin typeface="+mj-lt"/>
              </a:rPr>
              <a:t>are used for Print working directory, change directory, list directory contents.</a:t>
            </a:r>
          </a:p>
          <a:p>
            <a:endParaRPr lang="en-US" sz="2400" dirty="0">
              <a:latin typeface="+mj-lt"/>
            </a:endParaRPr>
          </a:p>
          <a:p>
            <a:pPr marL="457200" indent="-457200">
              <a:buFont typeface="Wingdings" panose="05000000000000000000" pitchFamily="2" charset="2"/>
              <a:buChar char="§"/>
            </a:pPr>
            <a:r>
              <a:rPr lang="en-US" sz="2400" b="1" dirty="0" err="1">
                <a:latin typeface="+mj-lt"/>
              </a:rPr>
              <a:t>mkdir</a:t>
            </a:r>
            <a:r>
              <a:rPr lang="en-US" sz="2400" b="1" dirty="0">
                <a:latin typeface="+mj-lt"/>
              </a:rPr>
              <a:t>, </a:t>
            </a:r>
            <a:r>
              <a:rPr lang="en-US" sz="2400" b="1" dirty="0" err="1">
                <a:latin typeface="+mj-lt"/>
              </a:rPr>
              <a:t>rmdir</a:t>
            </a:r>
            <a:r>
              <a:rPr lang="en-US" sz="2400" b="1" dirty="0">
                <a:latin typeface="+mj-lt"/>
              </a:rPr>
              <a:t>  </a:t>
            </a:r>
            <a:r>
              <a:rPr lang="en-US" sz="2400" dirty="0">
                <a:latin typeface="+mj-lt"/>
              </a:rPr>
              <a:t>are used to Create or remove a directory.</a:t>
            </a:r>
          </a:p>
          <a:p>
            <a:endParaRPr lang="en-US" sz="2400" dirty="0">
              <a:latin typeface="+mj-lt"/>
            </a:endParaRPr>
          </a:p>
          <a:p>
            <a:pPr marL="457200" indent="-457200">
              <a:buFont typeface="Wingdings" panose="05000000000000000000" pitchFamily="2" charset="2"/>
              <a:buChar char="§"/>
            </a:pPr>
            <a:r>
              <a:rPr lang="en-US" sz="2400" b="1" dirty="0">
                <a:latin typeface="+mj-lt"/>
              </a:rPr>
              <a:t>cp, mv, rm </a:t>
            </a:r>
            <a:r>
              <a:rPr lang="en-US" sz="2400" dirty="0">
                <a:latin typeface="+mj-lt"/>
              </a:rPr>
              <a:t>are used to Copy, move/rename, or remove (delete) files.</a:t>
            </a:r>
          </a:p>
        </p:txBody>
      </p:sp>
    </p:spTree>
    <p:extLst>
      <p:ext uri="{BB962C8B-B14F-4D97-AF65-F5344CB8AC3E}">
        <p14:creationId xmlns:p14="http://schemas.microsoft.com/office/powerpoint/2010/main" val="4001168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AA1D9-C7D7-6683-1F43-4E05F7FCCC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1EEB1C-6699-5B2D-06AA-696F8977CD98}"/>
              </a:ext>
            </a:extLst>
          </p:cNvPr>
          <p:cNvSpPr>
            <a:spLocks noGrp="1"/>
          </p:cNvSpPr>
          <p:nvPr>
            <p:ph type="title"/>
          </p:nvPr>
        </p:nvSpPr>
        <p:spPr>
          <a:xfrm>
            <a:off x="1097280" y="286603"/>
            <a:ext cx="10160656" cy="1450757"/>
          </a:xfrm>
        </p:spPr>
        <p:txBody>
          <a:bodyPr/>
          <a:lstStyle/>
          <a:p>
            <a:pPr>
              <a:buClr>
                <a:schemeClr val="accent1"/>
              </a:buClr>
            </a:pPr>
            <a:r>
              <a:rPr lang="en-US" sz="4800" dirty="0"/>
              <a:t>File Viewing and Editing Commands</a:t>
            </a:r>
          </a:p>
        </p:txBody>
      </p:sp>
      <p:sp>
        <p:nvSpPr>
          <p:cNvPr id="5" name="TextBox 4">
            <a:extLst>
              <a:ext uri="{FF2B5EF4-FFF2-40B4-BE49-F238E27FC236}">
                <a16:creationId xmlns:a16="http://schemas.microsoft.com/office/drawing/2014/main" id="{53E00B29-E66A-9D77-ED44-3249A9367167}"/>
              </a:ext>
            </a:extLst>
          </p:cNvPr>
          <p:cNvSpPr txBox="1"/>
          <p:nvPr/>
        </p:nvSpPr>
        <p:spPr>
          <a:xfrm>
            <a:off x="1097280" y="1966453"/>
            <a:ext cx="10510684" cy="1938992"/>
          </a:xfrm>
          <a:prstGeom prst="rect">
            <a:avLst/>
          </a:prstGeom>
          <a:noFill/>
        </p:spPr>
        <p:txBody>
          <a:bodyPr wrap="square" rtlCol="0">
            <a:spAutoFit/>
          </a:bodyPr>
          <a:lstStyle/>
          <a:p>
            <a:pPr marL="457200" indent="-457200">
              <a:buFont typeface="Wingdings" panose="05000000000000000000" pitchFamily="2" charset="2"/>
              <a:buChar char="§"/>
            </a:pPr>
            <a:r>
              <a:rPr lang="en-US" sz="2400" b="1" dirty="0">
                <a:latin typeface="+mj-lt"/>
              </a:rPr>
              <a:t>cat, less </a:t>
            </a:r>
            <a:r>
              <a:rPr lang="en-US" sz="2400" dirty="0">
                <a:latin typeface="+mj-lt"/>
              </a:rPr>
              <a:t>are used to View entire file contents (cat) or view page-by-page (less).</a:t>
            </a:r>
          </a:p>
          <a:p>
            <a:endParaRPr lang="en-US" sz="2400" dirty="0">
              <a:latin typeface="+mj-lt"/>
            </a:endParaRPr>
          </a:p>
          <a:p>
            <a:pPr marL="457200" indent="-457200">
              <a:buFont typeface="Wingdings" panose="05000000000000000000" pitchFamily="2" charset="2"/>
              <a:buChar char="§"/>
            </a:pPr>
            <a:r>
              <a:rPr lang="en-US" sz="2400" b="1" dirty="0">
                <a:latin typeface="+mj-lt"/>
              </a:rPr>
              <a:t>nano, vim </a:t>
            </a:r>
            <a:r>
              <a:rPr lang="en-US" sz="2400" dirty="0">
                <a:latin typeface="+mj-lt"/>
              </a:rPr>
              <a:t>are used to open Terminal-based text editors for modifying files. </a:t>
            </a:r>
          </a:p>
        </p:txBody>
      </p:sp>
    </p:spTree>
    <p:extLst>
      <p:ext uri="{BB962C8B-B14F-4D97-AF65-F5344CB8AC3E}">
        <p14:creationId xmlns:p14="http://schemas.microsoft.com/office/powerpoint/2010/main" val="3190771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5FB65-E06E-7FC5-C447-D2EF58F0735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0CF2C3-7B2A-6315-DCA9-1577DD3E150F}"/>
              </a:ext>
            </a:extLst>
          </p:cNvPr>
          <p:cNvSpPr>
            <a:spLocks noGrp="1"/>
          </p:cNvSpPr>
          <p:nvPr>
            <p:ph type="title"/>
          </p:nvPr>
        </p:nvSpPr>
        <p:spPr>
          <a:xfrm>
            <a:off x="1097280" y="286603"/>
            <a:ext cx="10160656" cy="1450757"/>
          </a:xfrm>
        </p:spPr>
        <p:txBody>
          <a:bodyPr/>
          <a:lstStyle/>
          <a:p>
            <a:pPr>
              <a:buClr>
                <a:schemeClr val="accent1"/>
              </a:buClr>
            </a:pPr>
            <a:r>
              <a:rPr lang="en-US" sz="4800" dirty="0"/>
              <a:t>Search &amp; Filter Commands</a:t>
            </a:r>
          </a:p>
        </p:txBody>
      </p:sp>
      <p:sp>
        <p:nvSpPr>
          <p:cNvPr id="5" name="TextBox 4">
            <a:extLst>
              <a:ext uri="{FF2B5EF4-FFF2-40B4-BE49-F238E27FC236}">
                <a16:creationId xmlns:a16="http://schemas.microsoft.com/office/drawing/2014/main" id="{DEA8C846-EFB8-FA47-6665-1850C6836179}"/>
              </a:ext>
            </a:extLst>
          </p:cNvPr>
          <p:cNvSpPr txBox="1"/>
          <p:nvPr/>
        </p:nvSpPr>
        <p:spPr>
          <a:xfrm>
            <a:off x="1097280" y="1966453"/>
            <a:ext cx="10510684" cy="1569660"/>
          </a:xfrm>
          <a:prstGeom prst="rect">
            <a:avLst/>
          </a:prstGeom>
          <a:noFill/>
        </p:spPr>
        <p:txBody>
          <a:bodyPr wrap="square" rtlCol="0">
            <a:spAutoFit/>
          </a:bodyPr>
          <a:lstStyle/>
          <a:p>
            <a:pPr marL="457200" indent="-457200">
              <a:buFont typeface="Wingdings" panose="05000000000000000000" pitchFamily="2" charset="2"/>
              <a:buChar char="§"/>
            </a:pPr>
            <a:r>
              <a:rPr lang="en-US" sz="2400" b="1" dirty="0">
                <a:latin typeface="+mj-lt"/>
              </a:rPr>
              <a:t>grep </a:t>
            </a:r>
            <a:r>
              <a:rPr lang="en-US" sz="2400" dirty="0">
                <a:latin typeface="+mj-lt"/>
              </a:rPr>
              <a:t>is used to Search for specific text patterns within files. </a:t>
            </a:r>
          </a:p>
          <a:p>
            <a:endParaRPr lang="en-US" sz="2400" dirty="0">
              <a:latin typeface="+mj-lt"/>
            </a:endParaRPr>
          </a:p>
          <a:p>
            <a:pPr marL="457200" indent="-457200">
              <a:buFont typeface="Wingdings" panose="05000000000000000000" pitchFamily="2" charset="2"/>
              <a:buChar char="§"/>
            </a:pPr>
            <a:r>
              <a:rPr lang="en-US" sz="2400" b="1" dirty="0">
                <a:latin typeface="+mj-lt"/>
              </a:rPr>
              <a:t>find </a:t>
            </a:r>
            <a:r>
              <a:rPr lang="en-US" sz="2400" dirty="0">
                <a:latin typeface="+mj-lt"/>
              </a:rPr>
              <a:t>is used to Search for files and directories based on name, size, or modification date.</a:t>
            </a:r>
          </a:p>
        </p:txBody>
      </p:sp>
    </p:spTree>
    <p:extLst>
      <p:ext uri="{BB962C8B-B14F-4D97-AF65-F5344CB8AC3E}">
        <p14:creationId xmlns:p14="http://schemas.microsoft.com/office/powerpoint/2010/main" val="1307425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55433-95C5-132A-577B-94D4C02B650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62C73B-4D2B-D1A1-B4BC-F16FA3DCEF3B}"/>
              </a:ext>
            </a:extLst>
          </p:cNvPr>
          <p:cNvSpPr>
            <a:spLocks noGrp="1"/>
          </p:cNvSpPr>
          <p:nvPr>
            <p:ph type="title"/>
          </p:nvPr>
        </p:nvSpPr>
        <p:spPr>
          <a:xfrm>
            <a:off x="1097280" y="286603"/>
            <a:ext cx="10160656" cy="1450757"/>
          </a:xfrm>
        </p:spPr>
        <p:txBody>
          <a:bodyPr/>
          <a:lstStyle/>
          <a:p>
            <a:pPr>
              <a:buClr>
                <a:schemeClr val="accent1"/>
              </a:buClr>
            </a:pPr>
            <a:r>
              <a:rPr lang="en-US" sz="4800" dirty="0"/>
              <a:t>Permissions &amp; Ownership Commands</a:t>
            </a:r>
          </a:p>
        </p:txBody>
      </p:sp>
      <p:sp>
        <p:nvSpPr>
          <p:cNvPr id="5" name="TextBox 4">
            <a:extLst>
              <a:ext uri="{FF2B5EF4-FFF2-40B4-BE49-F238E27FC236}">
                <a16:creationId xmlns:a16="http://schemas.microsoft.com/office/drawing/2014/main" id="{CDB9F964-E49E-651D-B463-389447005DBA}"/>
              </a:ext>
            </a:extLst>
          </p:cNvPr>
          <p:cNvSpPr txBox="1"/>
          <p:nvPr/>
        </p:nvSpPr>
        <p:spPr>
          <a:xfrm>
            <a:off x="1097280" y="1966453"/>
            <a:ext cx="10510684" cy="1200329"/>
          </a:xfrm>
          <a:prstGeom prst="rect">
            <a:avLst/>
          </a:prstGeom>
          <a:noFill/>
        </p:spPr>
        <p:txBody>
          <a:bodyPr wrap="square" rtlCol="0">
            <a:spAutoFit/>
          </a:bodyPr>
          <a:lstStyle/>
          <a:p>
            <a:pPr marL="457200" indent="-457200">
              <a:buFont typeface="Wingdings" panose="05000000000000000000" pitchFamily="2" charset="2"/>
              <a:buChar char="§"/>
            </a:pPr>
            <a:r>
              <a:rPr lang="en-US" sz="2400" b="1" dirty="0" err="1">
                <a:latin typeface="+mj-lt"/>
              </a:rPr>
              <a:t>chmod</a:t>
            </a:r>
            <a:r>
              <a:rPr lang="en-US" sz="2400" dirty="0">
                <a:latin typeface="+mj-lt"/>
              </a:rPr>
              <a:t> is used to Change file read/write/execute permissions.</a:t>
            </a:r>
          </a:p>
          <a:p>
            <a:endParaRPr lang="en-US" sz="2400" dirty="0">
              <a:latin typeface="+mj-lt"/>
            </a:endParaRPr>
          </a:p>
          <a:p>
            <a:pPr marL="457200" indent="-457200">
              <a:buFont typeface="Wingdings" panose="05000000000000000000" pitchFamily="2" charset="2"/>
              <a:buChar char="§"/>
            </a:pPr>
            <a:r>
              <a:rPr lang="en-US" sz="2400" b="1" dirty="0" err="1">
                <a:latin typeface="+mj-lt"/>
              </a:rPr>
              <a:t>chown</a:t>
            </a:r>
            <a:r>
              <a:rPr lang="en-US" sz="2400" dirty="0">
                <a:latin typeface="+mj-lt"/>
              </a:rPr>
              <a:t> is used to change the file owner.</a:t>
            </a:r>
          </a:p>
        </p:txBody>
      </p:sp>
    </p:spTree>
    <p:extLst>
      <p:ext uri="{BB962C8B-B14F-4D97-AF65-F5344CB8AC3E}">
        <p14:creationId xmlns:p14="http://schemas.microsoft.com/office/powerpoint/2010/main" val="1493265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03BF6-7FFC-6ECB-A4A6-E66503BE47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9A0A9A-5D93-AC46-343F-99B90C0545A7}"/>
              </a:ext>
            </a:extLst>
          </p:cNvPr>
          <p:cNvSpPr>
            <a:spLocks noGrp="1"/>
          </p:cNvSpPr>
          <p:nvPr>
            <p:ph type="title"/>
          </p:nvPr>
        </p:nvSpPr>
        <p:spPr>
          <a:xfrm>
            <a:off x="1097280" y="286603"/>
            <a:ext cx="10160656" cy="1450757"/>
          </a:xfrm>
        </p:spPr>
        <p:txBody>
          <a:bodyPr/>
          <a:lstStyle/>
          <a:p>
            <a:pPr>
              <a:buClr>
                <a:schemeClr val="accent1"/>
              </a:buClr>
            </a:pPr>
            <a:r>
              <a:rPr lang="en-US" sz="4800" dirty="0"/>
              <a:t>System &amp; Process Commands</a:t>
            </a:r>
          </a:p>
        </p:txBody>
      </p:sp>
      <p:sp>
        <p:nvSpPr>
          <p:cNvPr id="5" name="TextBox 4">
            <a:extLst>
              <a:ext uri="{FF2B5EF4-FFF2-40B4-BE49-F238E27FC236}">
                <a16:creationId xmlns:a16="http://schemas.microsoft.com/office/drawing/2014/main" id="{F84127AC-9B44-0573-BEA7-5FD678AE37E4}"/>
              </a:ext>
            </a:extLst>
          </p:cNvPr>
          <p:cNvSpPr txBox="1"/>
          <p:nvPr/>
        </p:nvSpPr>
        <p:spPr>
          <a:xfrm>
            <a:off x="1097280" y="1966453"/>
            <a:ext cx="10510684" cy="1200329"/>
          </a:xfrm>
          <a:prstGeom prst="rect">
            <a:avLst/>
          </a:prstGeom>
          <a:noFill/>
        </p:spPr>
        <p:txBody>
          <a:bodyPr wrap="square" rtlCol="0">
            <a:spAutoFit/>
          </a:bodyPr>
          <a:lstStyle/>
          <a:p>
            <a:pPr marL="457200" indent="-457200">
              <a:buFont typeface="Wingdings" panose="05000000000000000000" pitchFamily="2" charset="2"/>
              <a:buChar char="§"/>
            </a:pPr>
            <a:r>
              <a:rPr lang="en-US" sz="2400" b="1" dirty="0">
                <a:latin typeface="+mj-lt"/>
              </a:rPr>
              <a:t>Top </a:t>
            </a:r>
            <a:r>
              <a:rPr lang="en-US" sz="2400" dirty="0">
                <a:latin typeface="+mj-lt"/>
              </a:rPr>
              <a:t>and</a:t>
            </a:r>
            <a:r>
              <a:rPr lang="en-US" sz="2400" b="1" dirty="0">
                <a:latin typeface="+mj-lt"/>
              </a:rPr>
              <a:t> Ps</a:t>
            </a:r>
            <a:r>
              <a:rPr lang="en-US" sz="2400" b="1" dirty="0"/>
              <a:t> </a:t>
            </a:r>
            <a:r>
              <a:rPr lang="en-US" sz="2400" dirty="0">
                <a:latin typeface="+mj-lt"/>
              </a:rPr>
              <a:t>is used to View active processes (top, </a:t>
            </a:r>
            <a:r>
              <a:rPr lang="en-US" sz="2400" dirty="0" err="1">
                <a:latin typeface="+mj-lt"/>
              </a:rPr>
              <a:t>ps</a:t>
            </a:r>
            <a:r>
              <a:rPr lang="en-US" sz="2400" dirty="0">
                <a:latin typeface="+mj-lt"/>
              </a:rPr>
              <a:t>).</a:t>
            </a:r>
          </a:p>
          <a:p>
            <a:endParaRPr lang="en-US" sz="2400" dirty="0">
              <a:latin typeface="+mj-lt"/>
            </a:endParaRPr>
          </a:p>
          <a:p>
            <a:pPr marL="457200" indent="-457200">
              <a:buFont typeface="Wingdings" panose="05000000000000000000" pitchFamily="2" charset="2"/>
              <a:buChar char="§"/>
            </a:pPr>
            <a:r>
              <a:rPr lang="en-US" sz="2400" b="1" dirty="0">
                <a:latin typeface="+mj-lt"/>
              </a:rPr>
              <a:t>Kill </a:t>
            </a:r>
            <a:r>
              <a:rPr lang="en-US" sz="2400" dirty="0">
                <a:latin typeface="+mj-lt"/>
              </a:rPr>
              <a:t>is used to terminate them by ID.</a:t>
            </a:r>
          </a:p>
        </p:txBody>
      </p:sp>
    </p:spTree>
    <p:extLst>
      <p:ext uri="{BB962C8B-B14F-4D97-AF65-F5344CB8AC3E}">
        <p14:creationId xmlns:p14="http://schemas.microsoft.com/office/powerpoint/2010/main" val="4211018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2A881-5BA5-5B2C-940D-FA30A8C0869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B07820-E76F-FA8F-F9D3-367CFCCE60FB}"/>
              </a:ext>
            </a:extLst>
          </p:cNvPr>
          <p:cNvSpPr>
            <a:spLocks noGrp="1"/>
          </p:cNvSpPr>
          <p:nvPr>
            <p:ph type="title"/>
          </p:nvPr>
        </p:nvSpPr>
        <p:spPr>
          <a:xfrm>
            <a:off x="1097280" y="286603"/>
            <a:ext cx="10160656" cy="1450757"/>
          </a:xfrm>
        </p:spPr>
        <p:txBody>
          <a:bodyPr/>
          <a:lstStyle/>
          <a:p>
            <a:pPr>
              <a:buClr>
                <a:schemeClr val="accent1"/>
              </a:buClr>
            </a:pPr>
            <a:r>
              <a:rPr lang="en-US" sz="4800" dirty="0"/>
              <a:t>Networking Commands</a:t>
            </a:r>
          </a:p>
        </p:txBody>
      </p:sp>
      <p:sp>
        <p:nvSpPr>
          <p:cNvPr id="5" name="TextBox 4">
            <a:extLst>
              <a:ext uri="{FF2B5EF4-FFF2-40B4-BE49-F238E27FC236}">
                <a16:creationId xmlns:a16="http://schemas.microsoft.com/office/drawing/2014/main" id="{BC475122-0B6A-DCD4-B39C-4E81B4D078ED}"/>
              </a:ext>
            </a:extLst>
          </p:cNvPr>
          <p:cNvSpPr txBox="1"/>
          <p:nvPr/>
        </p:nvSpPr>
        <p:spPr>
          <a:xfrm>
            <a:off x="1097280" y="1976285"/>
            <a:ext cx="10510684" cy="1200329"/>
          </a:xfrm>
          <a:prstGeom prst="rect">
            <a:avLst/>
          </a:prstGeom>
          <a:noFill/>
        </p:spPr>
        <p:txBody>
          <a:bodyPr wrap="square" rtlCol="0">
            <a:spAutoFit/>
          </a:bodyPr>
          <a:lstStyle/>
          <a:p>
            <a:pPr marL="457200" indent="-457200">
              <a:buFont typeface="Wingdings" panose="05000000000000000000" pitchFamily="2" charset="2"/>
              <a:buChar char="§"/>
            </a:pPr>
            <a:r>
              <a:rPr lang="en-US" sz="2400" b="1" dirty="0">
                <a:latin typeface="+mj-lt"/>
              </a:rPr>
              <a:t>ping </a:t>
            </a:r>
            <a:r>
              <a:rPr lang="en-US" sz="2400" dirty="0">
                <a:latin typeface="+mj-lt"/>
              </a:rPr>
              <a:t>is used to Check network connection.</a:t>
            </a:r>
          </a:p>
          <a:p>
            <a:r>
              <a:rPr lang="en-US" sz="2400" b="1" dirty="0">
                <a:latin typeface="+mj-lt"/>
              </a:rPr>
              <a:t> </a:t>
            </a:r>
          </a:p>
          <a:p>
            <a:pPr marL="457200" indent="-457200">
              <a:buFont typeface="Wingdings" panose="05000000000000000000" pitchFamily="2" charset="2"/>
              <a:buChar char="§"/>
            </a:pPr>
            <a:r>
              <a:rPr lang="en-US" sz="2400" b="1" dirty="0">
                <a:latin typeface="+mj-lt"/>
              </a:rPr>
              <a:t>Curl</a:t>
            </a:r>
            <a:r>
              <a:rPr lang="en-US" sz="2400" b="1" dirty="0"/>
              <a:t> </a:t>
            </a:r>
            <a:r>
              <a:rPr lang="en-US" sz="2400" dirty="0">
                <a:latin typeface="+mj-lt"/>
              </a:rPr>
              <a:t>transfer data from or to a server.</a:t>
            </a:r>
          </a:p>
        </p:txBody>
      </p:sp>
    </p:spTree>
    <p:extLst>
      <p:ext uri="{BB962C8B-B14F-4D97-AF65-F5344CB8AC3E}">
        <p14:creationId xmlns:p14="http://schemas.microsoft.com/office/powerpoint/2010/main" val="409558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0418C-D56D-C817-E6E9-93EAB6472A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FC553C6-54CE-D77E-55F9-6B4E844CA377}"/>
              </a:ext>
            </a:extLst>
          </p:cNvPr>
          <p:cNvSpPr>
            <a:spLocks noGrp="1"/>
          </p:cNvSpPr>
          <p:nvPr>
            <p:ph type="title"/>
          </p:nvPr>
        </p:nvSpPr>
        <p:spPr>
          <a:xfrm>
            <a:off x="1097280" y="286603"/>
            <a:ext cx="10160656" cy="1450757"/>
          </a:xfrm>
        </p:spPr>
        <p:txBody>
          <a:bodyPr>
            <a:normAutofit/>
          </a:bodyPr>
          <a:lstStyle/>
          <a:p>
            <a:pPr>
              <a:buClr>
                <a:schemeClr val="accent1"/>
              </a:buClr>
            </a:pPr>
            <a:r>
              <a:rPr lang="en-US" sz="4800" dirty="0"/>
              <a:t>Package Management Commands</a:t>
            </a:r>
          </a:p>
        </p:txBody>
      </p:sp>
      <p:sp>
        <p:nvSpPr>
          <p:cNvPr id="5" name="TextBox 4">
            <a:extLst>
              <a:ext uri="{FF2B5EF4-FFF2-40B4-BE49-F238E27FC236}">
                <a16:creationId xmlns:a16="http://schemas.microsoft.com/office/drawing/2014/main" id="{C7D3AA64-AA61-1134-B230-B70D169C5A1E}"/>
              </a:ext>
            </a:extLst>
          </p:cNvPr>
          <p:cNvSpPr txBox="1"/>
          <p:nvPr/>
        </p:nvSpPr>
        <p:spPr>
          <a:xfrm>
            <a:off x="1097280" y="1976285"/>
            <a:ext cx="10510684" cy="1200329"/>
          </a:xfrm>
          <a:prstGeom prst="rect">
            <a:avLst/>
          </a:prstGeom>
          <a:noFill/>
        </p:spPr>
        <p:txBody>
          <a:bodyPr wrap="square" rtlCol="0">
            <a:spAutoFit/>
          </a:bodyPr>
          <a:lstStyle/>
          <a:p>
            <a:pPr marL="457200" indent="-457200">
              <a:buFont typeface="Wingdings" panose="05000000000000000000" pitchFamily="2" charset="2"/>
              <a:buChar char="§"/>
            </a:pPr>
            <a:r>
              <a:rPr lang="en-US" sz="2400" b="1" dirty="0">
                <a:latin typeface="+mj-lt"/>
              </a:rPr>
              <a:t>apt </a:t>
            </a:r>
            <a:r>
              <a:rPr lang="en-US" sz="2400" dirty="0">
                <a:latin typeface="+mj-lt"/>
              </a:rPr>
              <a:t>is used to </a:t>
            </a:r>
            <a:r>
              <a:rPr lang="en-US" sz="2400" b="1" dirty="0">
                <a:latin typeface="+mj-lt"/>
              </a:rPr>
              <a:t>Install, update, </a:t>
            </a:r>
            <a:r>
              <a:rPr lang="en-US" sz="2400" dirty="0">
                <a:latin typeface="+mj-lt"/>
              </a:rPr>
              <a:t>and</a:t>
            </a:r>
            <a:r>
              <a:rPr lang="en-US" sz="2400" b="1" dirty="0">
                <a:latin typeface="+mj-lt"/>
              </a:rPr>
              <a:t> remove </a:t>
            </a:r>
            <a:r>
              <a:rPr lang="en-US" sz="2400" dirty="0">
                <a:latin typeface="+mj-lt"/>
              </a:rPr>
              <a:t>software packages.</a:t>
            </a:r>
          </a:p>
          <a:p>
            <a:endParaRPr lang="en-US" sz="2400" b="1" dirty="0">
              <a:latin typeface="+mj-lt"/>
            </a:endParaRPr>
          </a:p>
          <a:p>
            <a:pPr marL="457200" indent="-457200">
              <a:buFont typeface="Wingdings" panose="05000000000000000000" pitchFamily="2" charset="2"/>
              <a:buChar char="§"/>
            </a:pPr>
            <a:r>
              <a:rPr lang="en-US" sz="2400" b="1" dirty="0">
                <a:latin typeface="+mj-lt"/>
              </a:rPr>
              <a:t>For Example: “</a:t>
            </a:r>
            <a:r>
              <a:rPr lang="en-US" sz="2400" b="1" dirty="0" err="1">
                <a:latin typeface="+mj-lt"/>
              </a:rPr>
              <a:t>sudo</a:t>
            </a:r>
            <a:r>
              <a:rPr lang="en-US" sz="2400" b="1" dirty="0">
                <a:latin typeface="+mj-lt"/>
              </a:rPr>
              <a:t> apt update”</a:t>
            </a:r>
            <a:r>
              <a:rPr lang="en-US" sz="2400" dirty="0">
                <a:latin typeface="+mj-lt"/>
              </a:rPr>
              <a:t>.</a:t>
            </a:r>
          </a:p>
        </p:txBody>
      </p:sp>
    </p:spTree>
    <p:extLst>
      <p:ext uri="{BB962C8B-B14F-4D97-AF65-F5344CB8AC3E}">
        <p14:creationId xmlns:p14="http://schemas.microsoft.com/office/powerpoint/2010/main" val="3207222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A1CA8-1C68-BB99-72A5-E2C828ACDF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636627-17C8-37E3-638B-BEDF6C648B67}"/>
              </a:ext>
            </a:extLst>
          </p:cNvPr>
          <p:cNvSpPr>
            <a:spLocks noGrp="1"/>
          </p:cNvSpPr>
          <p:nvPr>
            <p:ph type="title"/>
          </p:nvPr>
        </p:nvSpPr>
        <p:spPr>
          <a:xfrm>
            <a:off x="1097280" y="286603"/>
            <a:ext cx="10160656" cy="1450757"/>
          </a:xfrm>
        </p:spPr>
        <p:txBody>
          <a:bodyPr>
            <a:normAutofit/>
          </a:bodyPr>
          <a:lstStyle/>
          <a:p>
            <a:pPr>
              <a:buClr>
                <a:schemeClr val="accent1"/>
              </a:buClr>
            </a:pPr>
            <a:r>
              <a:rPr lang="en-US" sz="4800" dirty="0"/>
              <a:t>Advanced/Automation Commands</a:t>
            </a:r>
          </a:p>
        </p:txBody>
      </p:sp>
      <p:sp>
        <p:nvSpPr>
          <p:cNvPr id="5" name="TextBox 4">
            <a:extLst>
              <a:ext uri="{FF2B5EF4-FFF2-40B4-BE49-F238E27FC236}">
                <a16:creationId xmlns:a16="http://schemas.microsoft.com/office/drawing/2014/main" id="{AF73D5C3-7851-CE44-3083-D1AE96E131F9}"/>
              </a:ext>
            </a:extLst>
          </p:cNvPr>
          <p:cNvSpPr txBox="1"/>
          <p:nvPr/>
        </p:nvSpPr>
        <p:spPr>
          <a:xfrm>
            <a:off x="1097280" y="1946788"/>
            <a:ext cx="10510684" cy="1200329"/>
          </a:xfrm>
          <a:prstGeom prst="rect">
            <a:avLst/>
          </a:prstGeom>
          <a:noFill/>
        </p:spPr>
        <p:txBody>
          <a:bodyPr wrap="square" rtlCol="0">
            <a:spAutoFit/>
          </a:bodyPr>
          <a:lstStyle/>
          <a:p>
            <a:pPr marL="457200" indent="-457200">
              <a:buFont typeface="Wingdings" panose="05000000000000000000" pitchFamily="2" charset="2"/>
              <a:buChar char="§"/>
            </a:pPr>
            <a:r>
              <a:rPr lang="en-US" sz="2400" b="1" dirty="0" err="1">
                <a:latin typeface="+mj-lt"/>
              </a:rPr>
              <a:t>cron</a:t>
            </a:r>
            <a:r>
              <a:rPr lang="en-US" sz="2400" b="1" dirty="0">
                <a:latin typeface="+mj-lt"/>
              </a:rPr>
              <a:t> </a:t>
            </a:r>
            <a:r>
              <a:rPr lang="en-US" sz="2400" dirty="0">
                <a:latin typeface="+mj-lt"/>
              </a:rPr>
              <a:t>is used for Schedule recurring tasks.</a:t>
            </a:r>
          </a:p>
          <a:p>
            <a:endParaRPr lang="en-US" sz="2400" b="1" dirty="0">
              <a:latin typeface="+mj-lt"/>
            </a:endParaRPr>
          </a:p>
          <a:p>
            <a:pPr marL="457200" indent="-457200">
              <a:buFont typeface="Wingdings" panose="05000000000000000000" pitchFamily="2" charset="2"/>
              <a:buChar char="§"/>
            </a:pPr>
            <a:r>
              <a:rPr lang="en-US" sz="2400" b="1" dirty="0">
                <a:latin typeface="+mj-lt"/>
              </a:rPr>
              <a:t>Bash</a:t>
            </a:r>
            <a:r>
              <a:rPr lang="en-US" sz="2400" b="1" dirty="0"/>
              <a:t> </a:t>
            </a:r>
            <a:r>
              <a:rPr lang="en-US" sz="2400" dirty="0">
                <a:latin typeface="+mj-lt"/>
              </a:rPr>
              <a:t>is used to execute shell scripts.</a:t>
            </a:r>
          </a:p>
        </p:txBody>
      </p:sp>
    </p:spTree>
    <p:extLst>
      <p:ext uri="{BB962C8B-B14F-4D97-AF65-F5344CB8AC3E}">
        <p14:creationId xmlns:p14="http://schemas.microsoft.com/office/powerpoint/2010/main" val="1426810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547EB-986C-F66B-D0FB-957308ABE3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6CEEB2-C184-264D-10F1-B628076DFBF0}"/>
              </a:ext>
            </a:extLst>
          </p:cNvPr>
          <p:cNvSpPr>
            <a:spLocks noGrp="1"/>
          </p:cNvSpPr>
          <p:nvPr>
            <p:ph type="title"/>
          </p:nvPr>
        </p:nvSpPr>
        <p:spPr>
          <a:xfrm>
            <a:off x="1097280" y="0"/>
            <a:ext cx="10058400" cy="1450757"/>
          </a:xfrm>
        </p:spPr>
        <p:txBody>
          <a:bodyPr/>
          <a:lstStyle/>
          <a:p>
            <a:r>
              <a:rPr lang="en-IN" dirty="0"/>
              <a:t>Developer Tools in Linux</a:t>
            </a:r>
          </a:p>
        </p:txBody>
      </p:sp>
      <p:sp>
        <p:nvSpPr>
          <p:cNvPr id="5" name="TextBox 4">
            <a:extLst>
              <a:ext uri="{FF2B5EF4-FFF2-40B4-BE49-F238E27FC236}">
                <a16:creationId xmlns:a16="http://schemas.microsoft.com/office/drawing/2014/main" id="{3BC7FED6-E95E-6095-3AA7-CF65C49CEB60}"/>
              </a:ext>
            </a:extLst>
          </p:cNvPr>
          <p:cNvSpPr txBox="1"/>
          <p:nvPr/>
        </p:nvSpPr>
        <p:spPr>
          <a:xfrm>
            <a:off x="1097280" y="1334989"/>
            <a:ext cx="10510684" cy="3785652"/>
          </a:xfrm>
          <a:prstGeom prst="rect">
            <a:avLst/>
          </a:prstGeom>
          <a:noFill/>
        </p:spPr>
        <p:txBody>
          <a:bodyPr wrap="square" rtlCol="0">
            <a:spAutoFit/>
          </a:bodyPr>
          <a:lstStyle/>
          <a:p>
            <a:r>
              <a:rPr lang="en-US" sz="2400" dirty="0">
                <a:latin typeface="+mj-lt"/>
              </a:rPr>
              <a:t>Major Developer tools are 6 they are:</a:t>
            </a:r>
          </a:p>
          <a:p>
            <a:endParaRPr lang="en-US" sz="2400" dirty="0">
              <a:latin typeface="+mj-lt"/>
            </a:endParaRPr>
          </a:p>
          <a:p>
            <a:pPr marL="342900" indent="-342900">
              <a:buClr>
                <a:schemeClr val="accent1"/>
              </a:buClr>
              <a:buFont typeface="Wingdings" panose="05000000000000000000" pitchFamily="2" charset="2"/>
              <a:buChar char="§"/>
            </a:pPr>
            <a:r>
              <a:rPr lang="en-US" sz="2400" b="1" dirty="0">
                <a:latin typeface="+mj-lt"/>
              </a:rPr>
              <a:t>GCC</a:t>
            </a:r>
            <a:r>
              <a:rPr lang="en-US" sz="2400" dirty="0">
                <a:latin typeface="+mj-lt"/>
              </a:rPr>
              <a:t> : The standard compiler for C and C++ programs.</a:t>
            </a:r>
          </a:p>
          <a:p>
            <a:pPr marL="342900" indent="-342900">
              <a:buClr>
                <a:schemeClr val="accent1"/>
              </a:buClr>
              <a:buFont typeface="Wingdings" panose="05000000000000000000" pitchFamily="2" charset="2"/>
              <a:buChar char="§"/>
            </a:pPr>
            <a:r>
              <a:rPr lang="en-US" sz="2400" b="1" dirty="0">
                <a:latin typeface="+mj-lt"/>
              </a:rPr>
              <a:t>GDB</a:t>
            </a:r>
            <a:r>
              <a:rPr lang="en-US" sz="2400" dirty="0">
                <a:latin typeface="+mj-lt"/>
              </a:rPr>
              <a:t> : A tool used to inspect what a program is doing while it executes or what it was doing at the moment it crashed. Allows setting breakpoints and stepping through code.</a:t>
            </a:r>
          </a:p>
          <a:p>
            <a:pPr marL="342900" indent="-342900">
              <a:buClr>
                <a:schemeClr val="accent1"/>
              </a:buClr>
              <a:buFont typeface="Wingdings" panose="05000000000000000000" pitchFamily="2" charset="2"/>
              <a:buChar char="§"/>
            </a:pPr>
            <a:r>
              <a:rPr lang="en-US" sz="2400" b="1" dirty="0" err="1">
                <a:latin typeface="+mj-lt"/>
              </a:rPr>
              <a:t>MakeFile</a:t>
            </a:r>
            <a:r>
              <a:rPr lang="en-US" sz="2400" dirty="0">
                <a:latin typeface="+mj-lt"/>
              </a:rPr>
              <a:t> :A build automation tool. Instead of typing long </a:t>
            </a:r>
            <a:r>
              <a:rPr lang="en-US" sz="2400" dirty="0" err="1">
                <a:latin typeface="+mj-lt"/>
              </a:rPr>
              <a:t>gcc</a:t>
            </a:r>
            <a:r>
              <a:rPr lang="en-US" sz="2400" dirty="0">
                <a:latin typeface="+mj-lt"/>
              </a:rPr>
              <a:t> commands every time, developers write a </a:t>
            </a:r>
            <a:r>
              <a:rPr lang="en-US" sz="2400" dirty="0" err="1">
                <a:latin typeface="+mj-lt"/>
              </a:rPr>
              <a:t>Makefile</a:t>
            </a:r>
            <a:r>
              <a:rPr lang="en-US" sz="2400" dirty="0">
                <a:latin typeface="+mj-lt"/>
              </a:rPr>
              <a:t> with the build rules, and simply run the make command to compile complex, multi-file projects efficiently.</a:t>
            </a:r>
          </a:p>
        </p:txBody>
      </p:sp>
    </p:spTree>
    <p:extLst>
      <p:ext uri="{BB962C8B-B14F-4D97-AF65-F5344CB8AC3E}">
        <p14:creationId xmlns:p14="http://schemas.microsoft.com/office/powerpoint/2010/main" val="617494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B1422-6524-E884-F14D-3E404F625E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F6C720-3DAF-4FFA-6821-4FF9B65B1F55}"/>
              </a:ext>
            </a:extLst>
          </p:cNvPr>
          <p:cNvSpPr>
            <a:spLocks noGrp="1"/>
          </p:cNvSpPr>
          <p:nvPr>
            <p:ph type="title"/>
          </p:nvPr>
        </p:nvSpPr>
        <p:spPr>
          <a:xfrm>
            <a:off x="1097280" y="0"/>
            <a:ext cx="10058400" cy="1450757"/>
          </a:xfrm>
        </p:spPr>
        <p:txBody>
          <a:bodyPr/>
          <a:lstStyle/>
          <a:p>
            <a:r>
              <a:rPr lang="en-IN" dirty="0"/>
              <a:t>Developer Tools in Linux</a:t>
            </a:r>
          </a:p>
        </p:txBody>
      </p:sp>
      <p:sp>
        <p:nvSpPr>
          <p:cNvPr id="5" name="TextBox 4">
            <a:extLst>
              <a:ext uri="{FF2B5EF4-FFF2-40B4-BE49-F238E27FC236}">
                <a16:creationId xmlns:a16="http://schemas.microsoft.com/office/drawing/2014/main" id="{151D6DE4-EFD5-FD42-8F9E-1813A331FC84}"/>
              </a:ext>
            </a:extLst>
          </p:cNvPr>
          <p:cNvSpPr txBox="1"/>
          <p:nvPr/>
        </p:nvSpPr>
        <p:spPr>
          <a:xfrm>
            <a:off x="1097280" y="1334989"/>
            <a:ext cx="10510684" cy="4154984"/>
          </a:xfrm>
          <a:prstGeom prst="rect">
            <a:avLst/>
          </a:prstGeom>
          <a:noFill/>
        </p:spPr>
        <p:txBody>
          <a:bodyPr wrap="square" rtlCol="0">
            <a:spAutoFit/>
          </a:bodyPr>
          <a:lstStyle/>
          <a:p>
            <a:r>
              <a:rPr lang="en-US" sz="2400" dirty="0">
                <a:latin typeface="+mj-lt"/>
              </a:rPr>
              <a:t>Major Developer tools are 6 they are:</a:t>
            </a:r>
          </a:p>
          <a:p>
            <a:endParaRPr lang="en-US" sz="2400" dirty="0">
              <a:latin typeface="+mj-lt"/>
            </a:endParaRPr>
          </a:p>
          <a:p>
            <a:pPr marL="342900" indent="-342900">
              <a:buClr>
                <a:schemeClr val="accent1"/>
              </a:buClr>
              <a:buFont typeface="Wingdings" panose="05000000000000000000" pitchFamily="2" charset="2"/>
              <a:buChar char="§"/>
            </a:pPr>
            <a:r>
              <a:rPr lang="en-US" sz="2400" b="1" dirty="0"/>
              <a:t>Tar</a:t>
            </a:r>
            <a:r>
              <a:rPr lang="en-US" sz="2400" dirty="0"/>
              <a:t> : Used to compress and extract archive files (similar to .zip).</a:t>
            </a:r>
          </a:p>
          <a:p>
            <a:pPr marL="342900" indent="-342900">
              <a:buClr>
                <a:schemeClr val="accent1"/>
              </a:buClr>
              <a:buFont typeface="Wingdings" panose="05000000000000000000" pitchFamily="2" charset="2"/>
              <a:buChar char="§"/>
            </a:pPr>
            <a:endParaRPr lang="en-US" sz="2400" dirty="0"/>
          </a:p>
          <a:p>
            <a:pPr marL="342900" indent="-342900">
              <a:buClr>
                <a:schemeClr val="accent1"/>
              </a:buClr>
              <a:buFont typeface="Wingdings" panose="05000000000000000000" pitchFamily="2" charset="2"/>
              <a:buChar char="§"/>
            </a:pPr>
            <a:r>
              <a:rPr lang="en-US" sz="2400" b="1" dirty="0" err="1"/>
              <a:t>Ar</a:t>
            </a:r>
            <a:r>
              <a:rPr lang="en-US" sz="2400" dirty="0"/>
              <a:t> :Used to create, modify, and extract from archives. Crucial for creating static libraries (.a files) from multiple compiled object files (.o files).</a:t>
            </a:r>
          </a:p>
          <a:p>
            <a:pPr marL="342900" indent="-342900">
              <a:buClr>
                <a:schemeClr val="accent1"/>
              </a:buClr>
              <a:buFont typeface="Wingdings" panose="05000000000000000000" pitchFamily="2" charset="2"/>
              <a:buChar char="§"/>
            </a:pPr>
            <a:endParaRPr lang="en-US" sz="2400" dirty="0"/>
          </a:p>
          <a:p>
            <a:pPr marL="342900" indent="-342900">
              <a:buClr>
                <a:schemeClr val="accent1"/>
              </a:buClr>
              <a:buFont typeface="Wingdings" panose="05000000000000000000" pitchFamily="2" charset="2"/>
              <a:buChar char="§"/>
            </a:pPr>
            <a:r>
              <a:rPr lang="en-US" sz="2400" dirty="0"/>
              <a:t>.</a:t>
            </a:r>
            <a:r>
              <a:rPr lang="en-US" sz="2400" b="1" dirty="0"/>
              <a:t>EXE</a:t>
            </a:r>
            <a:r>
              <a:rPr lang="en-US" sz="2400" dirty="0"/>
              <a:t> : Linux uses the ELF format for executables, which usually have no file extension. However, due to WSL's interoperability, you can run Windows .exe files directly from the Linux terminal (e.g., explorer.exe . opens the Windows file explorer in the current Linux directory).</a:t>
            </a:r>
            <a:endParaRPr lang="en-US" sz="2400" dirty="0">
              <a:latin typeface="+mj-lt"/>
            </a:endParaRPr>
          </a:p>
        </p:txBody>
      </p:sp>
    </p:spTree>
    <p:extLst>
      <p:ext uri="{BB962C8B-B14F-4D97-AF65-F5344CB8AC3E}">
        <p14:creationId xmlns:p14="http://schemas.microsoft.com/office/powerpoint/2010/main" val="1033258243"/>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ppt/theme/themeOverride2.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8A3B04-B0F3-4C12-A722-52B5CF6D9723}">
  <ds:schemaRefs>
    <ds:schemaRef ds:uri="http://schemas.microsoft.com/sharepoint/v3/contenttype/forms"/>
  </ds:schemaRefs>
</ds:datastoreItem>
</file>

<file path=customXml/itemProps2.xml><?xml version="1.0" encoding="utf-8"?>
<ds:datastoreItem xmlns:ds="http://schemas.openxmlformats.org/officeDocument/2006/customXml" ds:itemID="{4F5B1FD9-3BB6-4DA9-A089-3B68C2323D4F}">
  <ds:schemaRefs>
    <ds:schemaRef ds:uri="http://schemas.microsoft.com/office/2006/metadata/properties"/>
    <ds:schemaRef ds:uri="http://www.w3.org/2000/xmlns/"/>
    <ds:schemaRef ds:uri="71af3243-3dd4-4a8d-8c0d-dd76da1f02a5"/>
    <ds:schemaRef ds:uri="http://www.w3.org/2001/XMLSchema-instance"/>
  </ds:schemaRefs>
</ds:datastoreItem>
</file>

<file path=customXml/itemProps3.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s>
</ds:datastoreItem>
</file>

<file path=docProps/app.xml><?xml version="1.0" encoding="utf-8"?>
<Properties xmlns="http://schemas.openxmlformats.org/officeDocument/2006/extended-properties" xmlns:vt="http://schemas.openxmlformats.org/officeDocument/2006/docPropsVTypes">
  <Template>{15626B48-A53D-4A73-A020-CFB98D2C58FF}TF427093bb-7ddc-497b-80f4-fe945bcee621ff7241c0_win32-add2936a5c77</Template>
  <TotalTime>33</TotalTime>
  <Words>550</Words>
  <Application>Microsoft Office PowerPoint</Application>
  <PresentationFormat>Widescreen</PresentationFormat>
  <Paragraphs>65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1_RetrospectVTI</vt:lpstr>
      <vt:lpstr>Introduction To Linux</vt:lpstr>
      <vt:lpstr>Linux Installation</vt:lpstr>
      <vt:lpstr>User-Level Linux Commands</vt:lpstr>
      <vt:lpstr>File &amp; Directory Commands</vt:lpstr>
      <vt:lpstr>File Viewing and Editing Commands</vt:lpstr>
      <vt:lpstr>Search &amp; Filter Commands</vt:lpstr>
      <vt:lpstr>Permissions &amp; Ownership Commands</vt:lpstr>
      <vt:lpstr>System &amp; Process Commands</vt:lpstr>
      <vt:lpstr>Networking Commands</vt:lpstr>
      <vt:lpstr>Package Management Commands</vt:lpstr>
      <vt:lpstr>Advanced/Automation Commands</vt:lpstr>
      <vt:lpstr>Developer Tools in Linux</vt:lpstr>
      <vt:lpstr>Developer Tools in Linux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Linux</dc:title>
  <dc:creator>BODDU HARSHAVARDHAN</dc:creator>
  <cp:lastModifiedBy>Myneni Sai Siddhartha</cp:lastModifiedBy>
  <cp:revision>2</cp:revision>
  <dcterms:created xsi:type="dcterms:W3CDTF">2026-03-06T08:43:38Z</dcterms:created>
  <dcterms:modified xsi:type="dcterms:W3CDTF">2026-04-15T04:49:19Z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